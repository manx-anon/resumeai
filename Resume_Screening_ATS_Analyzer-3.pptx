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D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D42"/>
                </a:solidFill>
                <a:latin typeface="Arial"/>
              </a:rPr>
              <a:t>Example Score Breakdown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4C6EF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B2D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Skills</c:v>
                </c:pt>
                <c:pt idx="1">
                  <c:v>Experience</c:v>
                </c:pt>
                <c:pt idx="2">
                  <c:v>Projects</c:v>
                </c:pt>
                <c:pt idx="3">
                  <c:v>Education</c:v>
                </c:pt>
                <c:pt idx="4">
                  <c:v>Formatting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18</c:v>
                </c:pt>
                <c:pt idx="2">
                  <c:v>12</c:v>
                </c:pt>
                <c:pt idx="3">
                  <c:v>10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07-45CA-8057-230573AB2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Max Possible</c:v>
                </c:pt>
              </c:strCache>
            </c:strRef>
          </c:tx>
          <c:spPr>
            <a:solidFill>
              <a:srgbClr val="D7DCE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B2D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Skills</c:v>
                </c:pt>
                <c:pt idx="1">
                  <c:v>Experience</c:v>
                </c:pt>
                <c:pt idx="2">
                  <c:v>Projects</c:v>
                </c:pt>
                <c:pt idx="3">
                  <c:v>Education</c:v>
                </c:pt>
                <c:pt idx="4">
                  <c:v>Formatting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07-45CA-8057-230573AB2A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12700" cap="flat">
              <a:solidFill>
                <a:srgbClr val="E1E4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408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343B6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4206240"/>
            <a:ext cx="2377440" cy="2377440"/>
          </a:xfrm>
          <a:prstGeom prst="ellipse">
            <a:avLst/>
          </a:prstGeom>
          <a:solidFill>
            <a:srgbClr val="3A42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Screening &amp;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ATS-Style Resume Analyzer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 + Machine Learning web app that compares a resume against a job description, scores the match, flags missing skills, and generates an actionable, downloadable report.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738835" cy="384048"/>
          </a:xfrm>
          <a:prstGeom prst="roundRect">
            <a:avLst>
              <a:gd name="adj" fmla="val 19048"/>
            </a:avLst>
          </a:prstGeom>
          <a:solidFill>
            <a:srgbClr val="343B6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257800"/>
            <a:ext cx="7388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26387" y="5257800"/>
            <a:ext cx="1007669" cy="384048"/>
          </a:xfrm>
          <a:prstGeom prst="roundRect">
            <a:avLst>
              <a:gd name="adj" fmla="val 19048"/>
            </a:avLst>
          </a:prstGeom>
          <a:solidFill>
            <a:srgbClr val="343B63"/>
          </a:solidFill>
          <a:ln/>
        </p:spPr>
      </p:sp>
      <p:sp>
        <p:nvSpPr>
          <p:cNvPr id="10" name="Text 8"/>
          <p:cNvSpPr/>
          <p:nvPr/>
        </p:nvSpPr>
        <p:spPr>
          <a:xfrm>
            <a:off x="1726387" y="5257800"/>
            <a:ext cx="10076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98648" y="5257800"/>
            <a:ext cx="1276502" cy="384048"/>
          </a:xfrm>
          <a:prstGeom prst="roundRect">
            <a:avLst>
              <a:gd name="adj" fmla="val 19048"/>
            </a:avLst>
          </a:prstGeom>
          <a:solidFill>
            <a:srgbClr val="343B63"/>
          </a:solidFill>
          <a:ln/>
        </p:spPr>
      </p:sp>
      <p:sp>
        <p:nvSpPr>
          <p:cNvPr id="12" name="Text 10"/>
          <p:cNvSpPr/>
          <p:nvPr/>
        </p:nvSpPr>
        <p:spPr>
          <a:xfrm>
            <a:off x="2898648" y="5257800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9742" y="5257800"/>
            <a:ext cx="1276502" cy="384048"/>
          </a:xfrm>
          <a:prstGeom prst="roundRect">
            <a:avLst>
              <a:gd name="adj" fmla="val 19048"/>
            </a:avLst>
          </a:prstGeom>
          <a:solidFill>
            <a:srgbClr val="343B63"/>
          </a:solidFill>
          <a:ln/>
        </p:spPr>
      </p:sp>
      <p:sp>
        <p:nvSpPr>
          <p:cNvPr id="14" name="Text 12"/>
          <p:cNvSpPr/>
          <p:nvPr/>
        </p:nvSpPr>
        <p:spPr>
          <a:xfrm>
            <a:off x="4339742" y="5257800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/ NLTK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80837" y="5257800"/>
            <a:ext cx="738835" cy="384048"/>
          </a:xfrm>
          <a:prstGeom prst="roundRect">
            <a:avLst>
              <a:gd name="adj" fmla="val 19048"/>
            </a:avLst>
          </a:prstGeom>
          <a:solidFill>
            <a:srgbClr val="343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780837" y="5257800"/>
            <a:ext cx="7388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84264" y="5257800"/>
            <a:ext cx="1007669" cy="384048"/>
          </a:xfrm>
          <a:prstGeom prst="roundRect">
            <a:avLst>
              <a:gd name="adj" fmla="val 19048"/>
            </a:avLst>
          </a:prstGeom>
          <a:solidFill>
            <a:srgbClr val="343B63"/>
          </a:solidFill>
          <a:ln/>
        </p:spPr>
      </p:sp>
      <p:sp>
        <p:nvSpPr>
          <p:cNvPr id="18" name="Text 16"/>
          <p:cNvSpPr/>
          <p:nvPr/>
        </p:nvSpPr>
        <p:spPr>
          <a:xfrm>
            <a:off x="6684264" y="5257800"/>
            <a:ext cx="10076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rarely know how their resume actually reads against a job description before they hit submit.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386584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1328" y="225856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applications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81328" y="255117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apply without knowing if their resume is even relevant to the role.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3483864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81328" y="335584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keyword gaps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81328" y="364845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 and keywords quietly sink a resume before a human ever reads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4581144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1328" y="445312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feedback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81328" y="474573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 ('add more skills') doesn't say which skills, or why.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5678424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678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81328" y="555040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 resumes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81328" y="584301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resume gets sent everywhere, instead of being tuned per job.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2148840"/>
            <a:ext cx="4983480" cy="4114800"/>
          </a:xfrm>
          <a:prstGeom prst="roundRect">
            <a:avLst>
              <a:gd name="adj" fmla="val 2667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4505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tool...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2880360"/>
            <a:ext cx="4297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“Did I even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qualify?”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903720" y="42519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spend seconds per resume, and Applicant Tracking Systems filter on keywords and structure long before a human sees the page.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03720" y="5257800"/>
            <a:ext cx="4297680" cy="822960"/>
          </a:xfrm>
          <a:prstGeom prst="roundRect">
            <a:avLst>
              <a:gd name="adj" fmla="val 11111"/>
            </a:avLst>
          </a:prstGeom>
          <a:solidFill>
            <a:srgbClr val="343B63"/>
          </a:solidFill>
          <a:ln/>
        </p:spPr>
      </p:sp>
      <p:sp>
        <p:nvSpPr>
          <p:cNvPr id="29" name="Text 27"/>
          <p:cNvSpPr/>
          <p:nvPr/>
        </p:nvSpPr>
        <p:spPr>
          <a:xfrm>
            <a:off x="7114032" y="53766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B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resumes filtered before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B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92640" y="52578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40C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explainable, educational AI/ML web app: upload a resume, paste a job description, and get a full breakdown — not just a score.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94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23160"/>
            <a:ext cx="621792" cy="621792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6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906" y="2559954"/>
            <a:ext cx="348204" cy="348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24612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703320"/>
            <a:ext cx="20939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 measures true semantic overlap, not just keyword counts.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214884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94B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30752" y="2423160"/>
            <a:ext cx="621792" cy="621792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11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546" y="2559954"/>
            <a:ext cx="348204" cy="348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324612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30752" y="3703320"/>
            <a:ext cx="20939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exactly which required skills are absent from the resume.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214884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94B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65392" y="2423160"/>
            <a:ext cx="621792" cy="621792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16" name="Image 2" descr="icons/a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186" y="2559954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65392" y="324612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ATS-Style Score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65392" y="3703320"/>
            <a:ext cx="20939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100-point breakdown across skills, experience, education, projects &amp; formatting.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44000" y="214884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94B8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00032" y="2423160"/>
            <a:ext cx="621792" cy="621792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21" name="Image 3" descr="icons/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6826" y="2559954"/>
            <a:ext cx="348204" cy="3482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0032" y="324612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Advice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400032" y="3703320"/>
            <a:ext cx="20939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dynamically generated suggestions — not generic tips.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full pipeline: upload → extract → clean → compare → score → visualize → report.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features covering the full journey from raw resume to actionable feedback — part 1 of 2.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5" name="Image 0" descr="icons/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38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C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874520" y="19385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22860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PDF or DOCX and extracts all readable text automatically, with graceful handling of empty or unreadable files.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862072"/>
            <a:ext cx="566928" cy="566928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10" name="Image 1" descr="icons/file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04" y="2986796"/>
            <a:ext cx="317480" cy="317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C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87452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Input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31821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text directly or upload a JD file — processed through the same extraction pipeline as the resume.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758184"/>
            <a:ext cx="566928" cy="566928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15" name="Image 2" descr="icons/scisso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04" y="3882908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7307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C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874520" y="3730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407822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Lowercasing, punctuation &amp; stop-word removal, tokenization, and lemmatization prepare clean text for analysis.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654296"/>
            <a:ext cx="566928" cy="566928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20" name="Image 3" descr="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804" y="4779020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6268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C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874520" y="46268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417320" y="497433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both documents against an expandable, categorized skill database (languages, ML, cloud, databases &amp; more).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550408"/>
            <a:ext cx="566928" cy="566928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25" name="Image 4" descr="icons/perc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804" y="5675132"/>
            <a:ext cx="317480" cy="317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5229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C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874520" y="55229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Resume–Job Match Score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17320" y="587044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+ cosine similarity produce a semantic match score, shown as a clear percentage.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features covering the full journey from raw resume to actionable feedback — part 2 of 2.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40C057"/>
          </a:solidFill>
          <a:ln/>
        </p:spPr>
      </p:sp>
      <p:pic>
        <p:nvPicPr>
          <p:cNvPr id="5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38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E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874520" y="1938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 Detection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22860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flags skills required by the JD but absent from the resume — the most actionable insight in the app.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862072"/>
            <a:ext cx="566928" cy="566928"/>
          </a:xfrm>
          <a:prstGeom prst="ellipse">
            <a:avLst/>
          </a:prstGeom>
          <a:solidFill>
            <a:srgbClr val="40C057"/>
          </a:solidFill>
          <a:ln/>
        </p:spPr>
      </p:sp>
      <p:pic>
        <p:nvPicPr>
          <p:cNvPr id="10" name="Image 1" descr="icons/a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04" y="2986796"/>
            <a:ext cx="317480" cy="317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E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87452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ATS-Style Resume Score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31821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educational 100-point score across Skills, Experience, Education, Projects, and Formatting.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758184"/>
            <a:ext cx="566928" cy="566928"/>
          </a:xfrm>
          <a:prstGeom prst="ellipse">
            <a:avLst/>
          </a:prstGeom>
          <a:solidFill>
            <a:srgbClr val="40C057"/>
          </a:solidFill>
          <a:ln/>
        </p:spPr>
      </p:sp>
      <p:pic>
        <p:nvPicPr>
          <p:cNvPr id="15" name="Image 2" descr="icons/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04" y="3882908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7307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E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874520" y="3730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Suggestions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407822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generated, specific recommendations — quantify achievements, add links, strengthen verbs, and more.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654296"/>
            <a:ext cx="566928" cy="566928"/>
          </a:xfrm>
          <a:prstGeom prst="ellipse">
            <a:avLst/>
          </a:prstGeom>
          <a:solidFill>
            <a:srgbClr val="40C057"/>
          </a:solidFill>
          <a:ln/>
        </p:spPr>
      </p:sp>
      <p:pic>
        <p:nvPicPr>
          <p:cNvPr id="20" name="Image 3" descr="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804" y="4779020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6268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E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874520" y="46268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Visualization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417320" y="497433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charts: match gauge, matching vs. missing skills, and skill-category comparison.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550408"/>
            <a:ext cx="566928" cy="566928"/>
          </a:xfrm>
          <a:prstGeom prst="ellipse">
            <a:avLst/>
          </a:prstGeom>
          <a:solidFill>
            <a:srgbClr val="40C057"/>
          </a:solidFill>
          <a:ln/>
        </p:spPr>
      </p:sp>
      <p:pic>
        <p:nvPicPr>
          <p:cNvPr id="25" name="Image 4" descr="icons/downlo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804" y="5675132"/>
            <a:ext cx="317480" cy="317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5229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E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874520" y="55229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Report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17320" y="587044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 PDF report — scores, skills, suggestions, charts, and analysis date — generated via ReportLab.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pipeline, from raw documents to a downloadable report.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40280" y="3360420"/>
            <a:ext cx="256032" cy="0"/>
          </a:xfrm>
          <a:prstGeom prst="line">
            <a:avLst/>
          </a:prstGeom>
          <a:noFill/>
          <a:ln w="25400">
            <a:solidFill>
              <a:srgbClr val="C4CAE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40080" y="274320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4C6E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16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96512" y="3360420"/>
            <a:ext cx="256032" cy="0"/>
          </a:xfrm>
          <a:prstGeom prst="line">
            <a:avLst/>
          </a:prstGeom>
          <a:noFill/>
          <a:ln w="25400">
            <a:solidFill>
              <a:srgbClr val="C4CAE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96312" y="274320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2587752" y="2816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87752" y="31546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Job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52744" y="3360420"/>
            <a:ext cx="256032" cy="0"/>
          </a:xfrm>
          <a:prstGeom prst="line">
            <a:avLst/>
          </a:prstGeom>
          <a:noFill/>
          <a:ln w="25400">
            <a:solidFill>
              <a:srgbClr val="C4CAE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52544" y="274320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4C6EF5"/>
          </a:solidFill>
          <a:ln/>
        </p:spPr>
      </p:sp>
      <p:sp>
        <p:nvSpPr>
          <p:cNvPr id="14" name="Text 12"/>
          <p:cNvSpPr/>
          <p:nvPr/>
        </p:nvSpPr>
        <p:spPr>
          <a:xfrm>
            <a:off x="4443984" y="2816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43984" y="31546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08976" y="3360420"/>
            <a:ext cx="256032" cy="0"/>
          </a:xfrm>
          <a:prstGeom prst="line">
            <a:avLst/>
          </a:prstGeom>
          <a:noFill/>
          <a:ln w="25400">
            <a:solidFill>
              <a:srgbClr val="C4CAE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274320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2816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31546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65208" y="3360420"/>
            <a:ext cx="256032" cy="0"/>
          </a:xfrm>
          <a:prstGeom prst="line">
            <a:avLst/>
          </a:prstGeom>
          <a:noFill/>
          <a:ln w="25400">
            <a:solidFill>
              <a:srgbClr val="C4CAE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65008" y="274320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4C6EF5"/>
          </a:solidFill>
          <a:ln/>
        </p:spPr>
      </p:sp>
      <p:sp>
        <p:nvSpPr>
          <p:cNvPr id="22" name="Text 20"/>
          <p:cNvSpPr/>
          <p:nvPr/>
        </p:nvSpPr>
        <p:spPr>
          <a:xfrm>
            <a:off x="8156448" y="2816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56448" y="31546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921240" y="274320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12680" y="2816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12680" y="31546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4805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pdfplumber / python-docx for extraction → spaCy / NLTK for preprocessing → regex-based skill matching → Scikit-learn TF-IDF &amp; cosine similarity → heuristic ATS scoring → Plotly + ReportLab for output.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core techniques that power scoring and skill matching.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2B2D4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6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5438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4688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1546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and job description are vectorized with Term Frequency–Inverse Document Frequency (TF-IDF), then compared using cosine similarity — measuring how closely their meaning and vocabulary align, not just whether words overlap.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470916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343B63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4846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88720" y="5074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0C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291840" y="4937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B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B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210312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0" y="2423160"/>
            <a:ext cx="548640" cy="548640"/>
          </a:xfrm>
          <a:prstGeom prst="ellipse">
            <a:avLst/>
          </a:prstGeom>
          <a:solidFill>
            <a:srgbClr val="40C057"/>
          </a:solidFill>
          <a:ln/>
        </p:spPr>
      </p:sp>
      <p:pic>
        <p:nvPicPr>
          <p:cNvPr id="15" name="Image 1" descr="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254386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24688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Matching &amp; Gap Analysis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83680" y="31546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categorized skill database (languages, ML/AI, cloud, databases, and more) is matched against both documents with boundary-safe pattern matching, then diffed to find what's shared — and what's missing.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83680" y="470916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C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949440" y="4709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SQL, Git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83680" y="505663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C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949440" y="5056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Pandas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583680" y="540410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949440" y="54041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ATS-Style Resume Score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100-point, multi-category breakdown — an educational estimate, not a real ATS output.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2057400"/>
          <a:ext cx="66751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2057400"/>
            <a:ext cx="3977640" cy="4160520"/>
          </a:xfrm>
          <a:prstGeom prst="roundRect">
            <a:avLst>
              <a:gd name="adj" fmla="val 2759"/>
            </a:avLst>
          </a:prstGeom>
          <a:solidFill>
            <a:srgbClr val="2B2D42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606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40C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9692640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dirty="0">
                <a:solidFill>
                  <a:srgbClr val="CB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63840" y="37947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Skills, Experience, Education, Projects, Certifications, Formatting &amp; Section Completeness — combined into one final, explainable score.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863840" y="5257800"/>
            <a:ext cx="3383280" cy="0"/>
          </a:xfrm>
          <a:prstGeom prst="line">
            <a:avLst/>
          </a:prstGeom>
          <a:noFill/>
          <a:ln w="12700">
            <a:solidFill>
              <a:srgbClr val="343B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0" y="5440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estimate — not a real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ATS score.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production-relevant Python stack for AI/ML web apps.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6EF5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Streamlit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2331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0C057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NLP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·  spaCy  ·  NLTK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2331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45EF7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66760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·  NumPy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A5252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47091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 ·  PyPDF2  ·  python-docx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9319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617720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08C00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Reports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17720" y="47091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 ·  ReportLab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9319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4160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8BE6"/>
          </a:solidFill>
          <a:ln/>
        </p:spPr>
      </p:sp>
      <p:sp>
        <p:nvSpPr>
          <p:cNvPr id="26" name="Text 24"/>
          <p:cNvSpPr/>
          <p:nvPr/>
        </p:nvSpPr>
        <p:spPr>
          <a:xfrm>
            <a:off x="891540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66760" y="47091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·  GitHub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could go next.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94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365760" cy="365760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embeddings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735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TF-IDF for BERT/Sentence-Transformer embeddings for deeper semantic matching.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94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331720"/>
            <a:ext cx="365760" cy="365760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8163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 / auto-fix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32735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improved bullet points for flagged weaknesses, not just suggestions.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94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331720"/>
            <a:ext cx="365760" cy="365760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28163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Multi-job batch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32735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one resume against many job postings at once, ranked by fit.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94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297680"/>
            <a:ext cx="365760" cy="365760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7823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Recruiter-side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2395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resume screening view for HR teams, with candidate ranking and filters.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40690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94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297680"/>
            <a:ext cx="365760" cy="365760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47823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skill taxonomy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52395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skills database via a live O*NET / LinkedIn-style taxonomy source.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40690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94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297680"/>
            <a:ext cx="365760" cy="365760"/>
          </a:xfrm>
          <a:prstGeom prst="ellipse">
            <a:avLst/>
          </a:prstGeom>
          <a:solidFill>
            <a:srgbClr val="4C6EF5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66760" y="47823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 auditing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6760" y="52395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checks to help ensure scoring doesn't penalize non-traditional career paths.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3840480" cy="3840480"/>
          </a:xfrm>
          <a:prstGeom prst="ellipse">
            <a:avLst/>
          </a:prstGeom>
          <a:solidFill>
            <a:srgbClr val="343B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463040"/>
            <a:ext cx="3108960" cy="3108960"/>
          </a:xfrm>
          <a:prstGeom prst="ellipse">
            <a:avLst/>
          </a:prstGeom>
          <a:solidFill>
            <a:srgbClr val="3A42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C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Screening &amp; ATS-Style Resume Analyzer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B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educational, explainable AI/ML project built to demonstrate NLP, feature extraction, similarity scoring, and data visualization in a real, end-to-end web application.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7498080" cy="0"/>
          </a:xfrm>
          <a:prstGeom prst="line">
            <a:avLst/>
          </a:prstGeom>
          <a:noFill/>
          <a:ln w="12700">
            <a:solidFill>
              <a:srgbClr val="343B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1027</Words>
  <Application>Microsoft Office PowerPoint</Application>
  <PresentationFormat>Widescreen</PresentationFormat>
  <Paragraphs>178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Harsha Vardhan</cp:lastModifiedBy>
  <cp:revision>2</cp:revision>
  <dcterms:created xsi:type="dcterms:W3CDTF">2026-07-10T03:07:20Z</dcterms:created>
  <dcterms:modified xsi:type="dcterms:W3CDTF">2026-07-10T05:10:34Z</dcterms:modified>
</cp:coreProperties>
</file>